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es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2743200" cy="8778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54480"/>
            <a:ext cx="5486400" cy="1463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48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SIA 380/2</a:t>
            </a:r>
          </a:p>
          <a:p>
            <a:pPr algn="l">
              <a:lnSpc>
                <a:spcPts val="48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Compliance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54864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2800"/>
              </a:lnSpc>
            </a:pPr>
            <a:r>
              <a:rPr sz="2000" b="0">
                <a:solidFill>
                  <a:srgbClr val="3DAEDC"/>
                </a:solidFill>
                <a:latin typeface="Calibri"/>
              </a:rPr>
              <a:t>Automated Energy Compliance</a:t>
            </a:r>
          </a:p>
          <a:p>
            <a:pPr algn="l">
              <a:lnSpc>
                <a:spcPts val="2800"/>
              </a:lnSpc>
            </a:pPr>
            <a:r>
              <a:rPr sz="2000" b="0">
                <a:solidFill>
                  <a:srgbClr val="3DAEDC"/>
                </a:solidFill>
                <a:latin typeface="Calibri"/>
              </a:rPr>
              <a:t>for the Swiss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87979E"/>
                </a:solidFill>
                <a:latin typeface="Calibri"/>
              </a:rPr>
              <a:t>27 August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6D7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263640" y="457200"/>
            <a:ext cx="0" cy="4206240"/>
          </a:xfrm>
          <a:prstGeom prst="line">
            <a:avLst/>
          </a:prstGeom>
          <a:ln w="19050">
            <a:solidFill>
              <a:srgbClr val="3DA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0" y="1005840"/>
            <a:ext cx="237744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200" b="1">
                <a:solidFill>
                  <a:srgbClr val="3DAEDC"/>
                </a:solidFill>
                <a:latin typeface="Calibri"/>
              </a:rPr>
              <a:t>SIA 380/2:2022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23774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0">
                <a:solidFill>
                  <a:srgbClr val="87979E"/>
                </a:solidFill>
                <a:latin typeface="Calibri"/>
              </a:rPr>
              <a:t>Full Standard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237744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200" b="1">
                <a:solidFill>
                  <a:srgbClr val="3DAEDC"/>
                </a:solidFill>
                <a:latin typeface="Calibri"/>
              </a:rPr>
              <a:t>7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23774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0">
                <a:solidFill>
                  <a:srgbClr val="87979E"/>
                </a:solidFill>
                <a:latin typeface="Calibri"/>
              </a:rPr>
              <a:t>SIA 4010 Validation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474720"/>
            <a:ext cx="237744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200" b="1">
                <a:solidFill>
                  <a:srgbClr val="3DAEDC"/>
                </a:solidFill>
                <a:latin typeface="Calibri"/>
              </a:rPr>
              <a:t>PDF +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886200"/>
            <a:ext cx="23774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0">
                <a:solidFill>
                  <a:srgbClr val="87979E"/>
                </a:solidFill>
                <a:latin typeface="Calibri"/>
              </a:rPr>
              <a:t>Auditable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041B4A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45720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87979E"/>
                </a:solidFill>
                <a:latin typeface="Calibri"/>
              </a:rPr>
              <a:t>Swiss energy compliance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560320" cy="3200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FF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783080"/>
            <a:ext cx="146304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>
                <a:solidFill>
                  <a:srgbClr val="041B4A"/>
                </a:solidFill>
                <a:latin typeface="Calibri"/>
              </a:rPr>
              <a:t>Manual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201168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Engineers manually check 50+ parameters across heating, cooling, ventilation, lighting, and solar protection. Each references a different SIA article.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560320" cy="3200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1737360"/>
            <a:ext cx="457200" cy="457200"/>
          </a:xfrm>
          <a:prstGeom prst="ellipse">
            <a:avLst/>
          </a:prstGeom>
          <a:solidFill>
            <a:srgbClr val="EE0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737360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783080"/>
            <a:ext cx="146304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>
                <a:solidFill>
                  <a:srgbClr val="041B4A"/>
                </a:solidFill>
                <a:latin typeface="Calibri"/>
              </a:rPr>
              <a:t>Error-Prone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68880"/>
            <a:ext cx="201168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Spreadsheet-based workflows mean transcription errors, version mismatches, and inconsistent evidence. Missed checks can delay building permits.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17320"/>
            <a:ext cx="2560320" cy="3200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737360"/>
            <a:ext cx="457200" cy="457200"/>
          </a:xfrm>
          <a:prstGeom prst="ellipse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37360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783080"/>
            <a:ext cx="146304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>
                <a:solidFill>
                  <a:srgbClr val="041B4A"/>
                </a:solidFill>
                <a:latin typeface="Calibri"/>
              </a:rPr>
              <a:t>No Traceability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201168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Current methods lack an auditable trail. When a reviewer asks 'where does this value come from?', the answer is often buried in emails.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00600"/>
            <a:ext cx="27432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>
                <a:solidFill>
                  <a:srgbClr val="87979E"/>
                </a:solidFill>
                <a:latin typeface="Calibri"/>
              </a:rPr>
              <a:t>www.iesve.com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041B4A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64008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87979E"/>
                </a:solidFill>
                <a:latin typeface="Calibri"/>
              </a:rPr>
              <a:t>A complete compliance analysis pipeline inside IESVE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90472"/>
            <a:ext cx="146304" cy="146304"/>
          </a:xfrm>
          <a:prstGeom prst="ellipse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34747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041B4A"/>
                </a:solidFill>
                <a:latin typeface="Calibri"/>
              </a:rPr>
              <a:t>One-Click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8404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From VE model to auditable compliance report in minutes, not days.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59152"/>
            <a:ext cx="146304" cy="146304"/>
          </a:xfrm>
          <a:prstGeom prst="ellipse">
            <a:avLst/>
          </a:prstGeom>
          <a:solidFill>
            <a:srgbClr val="237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34747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041B4A"/>
                </a:solidFill>
                <a:latin typeface="Calibri"/>
              </a:rPr>
              <a:t>Evidence-Based Verdicts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38404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Every check cites its SIA article. Missing evidence = NOT_CHECKABLE, never a false PASS.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27832"/>
            <a:ext cx="146304" cy="146304"/>
          </a:xfrm>
          <a:prstGeom prst="ellipse">
            <a:avLst/>
          </a:prstGeom>
          <a:solidFill>
            <a:srgbClr val="0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34747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041B4A"/>
                </a:solidFill>
                <a:latin typeface="Calibri"/>
              </a:rPr>
              <a:t>Full SIA 380/2:2022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74720"/>
            <a:ext cx="38404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Heating, cooling, ventilation, lighting, solar protection, thermal bridges — all covered.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096511"/>
            <a:ext cx="146304" cy="146304"/>
          </a:xfrm>
          <a:prstGeom prst="ellipse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23359"/>
            <a:ext cx="34747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041B4A"/>
                </a:solidFill>
                <a:latin typeface="Calibri"/>
              </a:rPr>
              <a:t>Bilingual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43399"/>
            <a:ext cx="38404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555555"/>
                </a:solidFill>
                <a:latin typeface="Calibri"/>
              </a:rPr>
              <a:t>French and German output, matching the SIA workbook format Swiss reviewers expect.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1417320"/>
            <a:ext cx="3383280" cy="960120"/>
          </a:xfrm>
          <a:prstGeom prst="roundRect">
            <a:avLst/>
          </a:prstGeom>
          <a:solidFill>
            <a:srgbClr val="0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490472"/>
            <a:ext cx="1188720" cy="8229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554480"/>
            <a:ext cx="1737360" cy="685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Compliance checks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automated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2560320"/>
            <a:ext cx="3383280" cy="960120"/>
          </a:xfrm>
          <a:prstGeom prst="roundRect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2633472"/>
            <a:ext cx="1188720" cy="8229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97479"/>
            <a:ext cx="1737360" cy="685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SIA article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traceability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3703320"/>
            <a:ext cx="3383280" cy="960120"/>
          </a:xfrm>
          <a:prstGeom prst="roundRect">
            <a:avLst/>
          </a:prstGeom>
          <a:solidFill>
            <a:srgbClr val="237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3776472"/>
            <a:ext cx="1188720" cy="8229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840480"/>
            <a:ext cx="1737360" cy="685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Report formats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PDF +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00600"/>
            <a:ext cx="27432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>
                <a:solidFill>
                  <a:srgbClr val="87979E"/>
                </a:solidFill>
                <a:latin typeface="Calibri"/>
              </a:rPr>
              <a:t>www.iesve.com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3DAEDC"/>
                </a:solidFill>
                <a:latin typeface="Calibri"/>
              </a:rPr>
              <a:t>From VE model to compliance verdict in four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1920240" cy="283464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822960" cy="82296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822960" cy="8229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041B4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39"/>
            <a:ext cx="16459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Open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1645920" cy="10058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Load the client’s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IESVE project with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completed simulation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31720" y="2560320"/>
            <a:ext cx="182880" cy="274320"/>
          </a:xfrm>
          <a:prstGeom prst="rightArrow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0" y="1554480"/>
            <a:ext cx="1920240" cy="283464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0" y="1828800"/>
            <a:ext cx="822960" cy="822960"/>
          </a:xfrm>
          <a:prstGeom prst="ellipse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041B4A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834639"/>
            <a:ext cx="16459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Extract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3246120"/>
            <a:ext cx="1645920" cy="10058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API reads geometry,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constructions, HVAC,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weather, APS results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526279" y="2560320"/>
            <a:ext cx="182880" cy="274320"/>
          </a:xfrm>
          <a:prstGeom prst="rightArrow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54880" y="1554480"/>
            <a:ext cx="1920240" cy="283464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03520" y="1828800"/>
            <a:ext cx="822960" cy="82296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828800"/>
            <a:ext cx="822960" cy="8229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041B4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834639"/>
            <a:ext cx="16459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246120"/>
            <a:ext cx="1645920" cy="10058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Engine checks each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SIA criterion against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reference thresholds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720840" y="2560320"/>
            <a:ext cx="182880" cy="274320"/>
          </a:xfrm>
          <a:prstGeom prst="rightArrow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49440" y="1554480"/>
            <a:ext cx="1920240" cy="283464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79" y="1828800"/>
            <a:ext cx="822960" cy="822960"/>
          </a:xfrm>
          <a:prstGeom prst="ellipse">
            <a:avLst/>
          </a:prstGeom>
          <a:solidFill>
            <a:srgbClr val="75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1828800"/>
            <a:ext cx="822960" cy="8229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041B4A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834639"/>
            <a:ext cx="16459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246120"/>
            <a:ext cx="1645920" cy="10058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Generate branded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PDF + Excel with</a:t>
            </a:r>
          </a:p>
          <a:p>
            <a:pPr algn="ctr">
              <a:lnSpc>
                <a:spcPts val="1800"/>
              </a:lnSpc>
            </a:pPr>
            <a:r>
              <a:rPr sz="1200" b="0">
                <a:solidFill>
                  <a:srgbClr val="87979E"/>
                </a:solidFill>
                <a:latin typeface="Calibri"/>
              </a:rPr>
              <a:t>full traceability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640080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041B4A"/>
                </a:solidFill>
                <a:latin typeface="Calibri"/>
              </a:rPr>
              <a:t>Fail-Closed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87979E"/>
                </a:solidFill>
                <a:latin typeface="Calibri"/>
              </a:rPr>
              <a:t>Safety by design: missing evidence never becomes a pass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84048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463040" cy="731520"/>
          </a:xfrm>
          <a:prstGeom prst="roundRect">
            <a:avLst/>
          </a:prstGeom>
          <a:solidFill>
            <a:srgbClr val="75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463040" cy="7315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91640"/>
            <a:ext cx="18288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All required evidence present</a:t>
            </a:r>
          </a:p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and within SIA thresholds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79" y="1417320"/>
            <a:ext cx="384048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37759" y="1737360"/>
            <a:ext cx="1463040" cy="731520"/>
          </a:xfrm>
          <a:prstGeom prst="roundRect">
            <a:avLst/>
          </a:prstGeom>
          <a:solidFill>
            <a:srgbClr val="FF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1737360"/>
            <a:ext cx="1463040" cy="7315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1691640"/>
            <a:ext cx="18288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Values are close to the limit;</a:t>
            </a:r>
          </a:p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review recommended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384048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1463040" cy="731520"/>
          </a:xfrm>
          <a:prstGeom prst="roundRect">
            <a:avLst/>
          </a:prstGeom>
          <a:solidFill>
            <a:srgbClr val="EE0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1463040" cy="7315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291839"/>
            <a:ext cx="18288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Evidence present but exceeds</a:t>
            </a:r>
          </a:p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SIA thresholds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79" y="3017520"/>
            <a:ext cx="3840480" cy="13716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59" y="3337560"/>
            <a:ext cx="1463040" cy="731520"/>
          </a:xfrm>
          <a:prstGeom prst="roundRect">
            <a:avLst/>
          </a:prstGeom>
          <a:solidFill>
            <a:srgbClr val="879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3337560"/>
            <a:ext cx="1463040" cy="7315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NOT CHECKABLE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291839"/>
            <a:ext cx="18288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Missing evidence or data —</a:t>
            </a:r>
          </a:p>
          <a:p>
            <a:pPr algn="l">
              <a:lnSpc>
                <a:spcPts val="19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never defaults to 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8046720" cy="457200"/>
          </a:xfrm>
          <a:prstGeom prst="roundRect">
            <a:avLst/>
          </a:prstGeom>
          <a:solidFill>
            <a:srgbClr val="0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Core principle:  unknown ≠ compliant.  Every check traces to a specific SIA article.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041B4A"/>
                </a:solidFill>
                <a:latin typeface="Calibri"/>
              </a:rPr>
              <a:t>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64008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87979E"/>
                </a:solidFill>
                <a:latin typeface="Calibri"/>
              </a:rPr>
              <a:t>Client-ready, auditable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840480" cy="3291840"/>
          </a:xfrm>
          <a:prstGeom prst="roundRect">
            <a:avLst/>
          </a:prstGeom>
          <a:solidFill>
            <a:srgbClr val="0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914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600" b="1">
                <a:solidFill>
                  <a:srgbClr val="3DAEDC"/>
                </a:solidFill>
                <a:latin typeface="Calibri"/>
              </a:rPr>
              <a:t>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27632"/>
            <a:ext cx="24688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Compliance Report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40864"/>
            <a:ext cx="91440" cy="9144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30175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IES-branded cover page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688336"/>
            <a:ext cx="91440" cy="9144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587752"/>
            <a:ext cx="30175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Executive summary with overall verdict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035808"/>
            <a:ext cx="91440" cy="9144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35224"/>
            <a:ext cx="30175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Detailed check-by-check results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383280"/>
            <a:ext cx="91440" cy="9144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282696"/>
            <a:ext cx="30175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SIA article citations for each criterion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730751"/>
            <a:ext cx="91440" cy="9144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630168"/>
            <a:ext cx="30175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Evidence source traceability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078224"/>
            <a:ext cx="91440" cy="9144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977640"/>
            <a:ext cx="30175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Bilingual output (FR / DE)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417320"/>
            <a:ext cx="3840480" cy="3291840"/>
          </a:xfrm>
          <a:prstGeom prst="roundRect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1600200"/>
            <a:ext cx="109728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600" b="1">
                <a:solidFill>
                  <a:srgbClr val="13CFAD"/>
                </a:solidFill>
                <a:latin typeface="Calibri"/>
              </a:rPr>
              <a:t>Excel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627632"/>
            <a:ext cx="22860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Detail Workbook</a:t>
            </a:r>
          </a:p>
        </p:txBody>
      </p:sp>
      <p:sp>
        <p:nvSpPr>
          <p:cNvPr id="23" name="Oval 22"/>
          <p:cNvSpPr/>
          <p:nvPr/>
        </p:nvSpPr>
        <p:spPr>
          <a:xfrm>
            <a:off x="5120640" y="2340864"/>
            <a:ext cx="91440" cy="9144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2240280"/>
            <a:ext cx="30175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SIA official workbook format</a:t>
            </a:r>
          </a:p>
        </p:txBody>
      </p:sp>
      <p:sp>
        <p:nvSpPr>
          <p:cNvPr id="25" name="Oval 24"/>
          <p:cNvSpPr/>
          <p:nvPr/>
        </p:nvSpPr>
        <p:spPr>
          <a:xfrm>
            <a:off x="5120640" y="2688336"/>
            <a:ext cx="91440" cy="9144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2587752"/>
            <a:ext cx="30175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All input parameters with sources</a:t>
            </a:r>
          </a:p>
        </p:txBody>
      </p:sp>
      <p:sp>
        <p:nvSpPr>
          <p:cNvPr id="27" name="Oval 26"/>
          <p:cNvSpPr/>
          <p:nvPr/>
        </p:nvSpPr>
        <p:spPr>
          <a:xfrm>
            <a:off x="5120640" y="3035808"/>
            <a:ext cx="91440" cy="9144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2935224"/>
            <a:ext cx="30175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Comparison tables (project vs reference)</a:t>
            </a:r>
          </a:p>
        </p:txBody>
      </p:sp>
      <p:sp>
        <p:nvSpPr>
          <p:cNvPr id="29" name="Oval 28"/>
          <p:cNvSpPr/>
          <p:nvPr/>
        </p:nvSpPr>
        <p:spPr>
          <a:xfrm>
            <a:off x="5120640" y="3383280"/>
            <a:ext cx="91440" cy="9144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3282696"/>
            <a:ext cx="30175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Evidence worksheets per domain</a:t>
            </a:r>
          </a:p>
        </p:txBody>
      </p:sp>
      <p:sp>
        <p:nvSpPr>
          <p:cNvPr id="31" name="Oval 30"/>
          <p:cNvSpPr/>
          <p:nvPr/>
        </p:nvSpPr>
        <p:spPr>
          <a:xfrm>
            <a:off x="5120640" y="3730751"/>
            <a:ext cx="91440" cy="9144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49240" y="3630168"/>
            <a:ext cx="30175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Reviewer signature fields</a:t>
            </a:r>
          </a:p>
        </p:txBody>
      </p:sp>
      <p:sp>
        <p:nvSpPr>
          <p:cNvPr id="33" name="Oval 32"/>
          <p:cNvSpPr/>
          <p:nvPr/>
        </p:nvSpPr>
        <p:spPr>
          <a:xfrm>
            <a:off x="5120640" y="4078224"/>
            <a:ext cx="91440" cy="9144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3977640"/>
            <a:ext cx="301752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Machine-readable for audits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00600"/>
            <a:ext cx="27432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>
                <a:solidFill>
                  <a:srgbClr val="87979E"/>
                </a:solidFill>
                <a:latin typeface="Calibri"/>
              </a:rPr>
              <a:t>www.iesve.com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548640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041B4A"/>
                </a:solidFill>
                <a:latin typeface="Calibri"/>
              </a:rPr>
              <a:t>SIA 4010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64008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87979E"/>
                </a:solidFill>
                <a:latin typeface="Calibri"/>
              </a:rPr>
              <a:t>Path to certified software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444444"/>
                </a:solidFill>
                <a:latin typeface="Calibri"/>
              </a:rPr>
              <a:t>SIA 4010:2023 defines 7 validation tests for software tools that claim SIA 380/2 compliance. Passing these tests qualifies the tool to produce officially recognised results — a significant market differentiator.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8046720" cy="365760"/>
          </a:xfrm>
          <a:prstGeom prst="roundRect">
            <a:avLst/>
          </a:prstGeom>
          <a:solidFill>
            <a:srgbClr val="0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972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965960"/>
            <a:ext cx="365760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20116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8046720" cy="3474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1">
                <a:solidFill>
                  <a:srgbClr val="041B4A"/>
                </a:solidFill>
                <a:latin typeface="Calibri"/>
              </a:rPr>
              <a:t>Test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77440"/>
            <a:ext cx="365760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Monthly energy balance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487168"/>
            <a:ext cx="128016" cy="128016"/>
          </a:xfrm>
          <a:prstGeom prst="ellipse">
            <a:avLst/>
          </a:prstGeom>
          <a:solidFill>
            <a:srgbClr val="75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377440"/>
            <a:ext cx="182880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Engine ready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24912"/>
            <a:ext cx="8046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24912"/>
            <a:ext cx="109728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1">
                <a:solidFill>
                  <a:srgbClr val="041B4A"/>
                </a:solidFill>
                <a:latin typeface="Calibri"/>
              </a:rPr>
              <a:t>Test 2A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24912"/>
            <a:ext cx="365760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Optical setter qualification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834640"/>
            <a:ext cx="128016" cy="128016"/>
          </a:xfrm>
          <a:prstGeom prst="ellipse">
            <a:avLst/>
          </a:prstGeom>
          <a:solidFill>
            <a:srgbClr val="75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724912"/>
            <a:ext cx="182880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Engine 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72384"/>
            <a:ext cx="8046720" cy="3474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72384"/>
            <a:ext cx="109728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1">
                <a:solidFill>
                  <a:srgbClr val="041B4A"/>
                </a:solidFill>
                <a:latin typeface="Calibri"/>
              </a:rPr>
              <a:t>Test 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072384"/>
            <a:ext cx="365760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Shading setter qualification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82112"/>
            <a:ext cx="128016" cy="128016"/>
          </a:xfrm>
          <a:prstGeom prst="ellipse">
            <a:avLst/>
          </a:prstGeom>
          <a:solidFill>
            <a:srgbClr val="75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072384"/>
            <a:ext cx="182880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Engine ready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19856"/>
            <a:ext cx="8046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419856"/>
            <a:ext cx="109728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1">
                <a:solidFill>
                  <a:srgbClr val="041B4A"/>
                </a:solidFill>
                <a:latin typeface="Calibri"/>
              </a:rPr>
              <a:t>Test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3419856"/>
            <a:ext cx="365760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Scatter-band coefficients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3529584"/>
            <a:ext cx="128016" cy="128016"/>
          </a:xfrm>
          <a:prstGeom prst="ellipse">
            <a:avLst/>
          </a:prstGeom>
          <a:solidFill>
            <a:srgbClr val="75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419856"/>
            <a:ext cx="182880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Engine ready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67328"/>
            <a:ext cx="8046720" cy="3474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767328"/>
            <a:ext cx="109728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1">
                <a:solidFill>
                  <a:srgbClr val="041B4A"/>
                </a:solidFill>
                <a:latin typeface="Calibri"/>
              </a:rPr>
              <a:t>Test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3767328"/>
            <a:ext cx="365760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Comfort hours validation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3877056"/>
            <a:ext cx="128016" cy="128016"/>
          </a:xfrm>
          <a:prstGeom prst="ellipse">
            <a:avLst/>
          </a:prstGeom>
          <a:solidFill>
            <a:srgbClr val="FF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767328"/>
            <a:ext cx="182880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In development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14800"/>
            <a:ext cx="8046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114800"/>
            <a:ext cx="109728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1">
                <a:solidFill>
                  <a:srgbClr val="041B4A"/>
                </a:solidFill>
                <a:latin typeface="Calibri"/>
              </a:rPr>
              <a:t>Test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114800"/>
            <a:ext cx="365760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Distribution validation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0" y="4224528"/>
            <a:ext cx="128016" cy="128016"/>
          </a:xfrm>
          <a:prstGeom prst="ellipse">
            <a:avLst/>
          </a:prstGeom>
          <a:solidFill>
            <a:srgbClr val="75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4114800"/>
            <a:ext cx="182880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Class 5 ready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462272"/>
            <a:ext cx="8046720" cy="3474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462272"/>
            <a:ext cx="109728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1">
                <a:solidFill>
                  <a:srgbClr val="041B4A"/>
                </a:solidFill>
                <a:latin typeface="Calibri"/>
              </a:rPr>
              <a:t>Test 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462272"/>
            <a:ext cx="365760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Annual energy demand</a:t>
            </a:r>
          </a:p>
        </p:txBody>
      </p:sp>
      <p:sp>
        <p:nvSpPr>
          <p:cNvPr id="43" name="Oval 42"/>
          <p:cNvSpPr/>
          <p:nvPr/>
        </p:nvSpPr>
        <p:spPr>
          <a:xfrm>
            <a:off x="6400800" y="4572000"/>
            <a:ext cx="128016" cy="128016"/>
          </a:xfrm>
          <a:prstGeom prst="ellipse">
            <a:avLst/>
          </a:prstGeom>
          <a:solidFill>
            <a:srgbClr val="75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4462272"/>
            <a:ext cx="1828800" cy="347472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Engine ready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800600"/>
            <a:ext cx="27432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>
                <a:solidFill>
                  <a:srgbClr val="87979E"/>
                </a:solidFill>
                <a:latin typeface="Calibri"/>
              </a:rPr>
              <a:t>www.iesve.com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Compliance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3DAEDC"/>
                </a:solidFill>
                <a:latin typeface="Calibri"/>
              </a:rPr>
              <a:t>SIA 380/2:2022 domains covered by the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06040" cy="150876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EE0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41B4A"/>
                </a:solidFill>
                <a:latin typeface="Calibri"/>
              </a:rP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72768"/>
            <a:ext cx="16459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Heating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10312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Energy demand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System efficiency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Heat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71600"/>
            <a:ext cx="2606040" cy="150876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1554480"/>
            <a:ext cx="457200" cy="45720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54480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41B4A"/>
                </a:solidFill>
                <a:latin typeface="Calibri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572768"/>
            <a:ext cx="16459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48840"/>
            <a:ext cx="210312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Cooling demand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EER / SEER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Free cooling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606040" cy="150876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41B4A"/>
                </a:solidFill>
                <a:latin typeface="Calibri"/>
              </a:rP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1572768"/>
            <a:ext cx="16459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Ventilation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48840"/>
            <a:ext cx="210312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Air exchange rates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Heat recovery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Electric power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8960"/>
            <a:ext cx="2606040" cy="150876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FF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41B4A"/>
                </a:solidFill>
                <a:latin typeface="Calibri"/>
              </a:rPr>
              <a:t>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310128"/>
            <a:ext cx="16459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Lighting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86200"/>
            <a:ext cx="210312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Installed power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Control systems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Daylight factor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108960"/>
            <a:ext cx="2606040" cy="150876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20440" y="3291840"/>
            <a:ext cx="457200" cy="457200"/>
          </a:xfrm>
          <a:prstGeom prst="ellipse">
            <a:avLst/>
          </a:prstGeom>
          <a:solidFill>
            <a:srgbClr val="75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291840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41B4A"/>
                </a:solidFill>
                <a:latin typeface="Calibri"/>
              </a:rP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310128"/>
            <a:ext cx="16459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Solar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886200"/>
            <a:ext cx="210312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Shading devices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g-value reduction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Automation class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08960"/>
            <a:ext cx="2606040" cy="1508760"/>
          </a:xfrm>
          <a:prstGeom prst="round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0" y="3291840"/>
            <a:ext cx="457200" cy="457200"/>
          </a:xfrm>
          <a:prstGeom prst="ellipse">
            <a:avLst/>
          </a:prstGeom>
          <a:solidFill>
            <a:srgbClr val="13C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291840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41B4A"/>
                </a:solidFill>
                <a:latin typeface="Calibri"/>
              </a:rPr>
              <a:t>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59" y="3310128"/>
            <a:ext cx="164592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Thermal Bridges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886200"/>
            <a:ext cx="210312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Psi values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Linear coefficients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87979E"/>
                </a:solidFill>
                <a:latin typeface="Calibri"/>
              </a:rPr>
              <a:t>VE-direct read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041B4A"/>
                </a:solidFill>
                <a:latin typeface="Calibri"/>
              </a:rP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64008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87979E"/>
                </a:solidFill>
                <a:latin typeface="Calibri"/>
              </a:rPr>
              <a:t>Why this matters for 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1463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581912"/>
            <a:ext cx="164592" cy="164592"/>
          </a:xfrm>
          <a:prstGeom prst="ellipse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31089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>
                <a:solidFill>
                  <a:srgbClr val="041B4A"/>
                </a:solidFill>
                <a:latin typeface="Calibri"/>
              </a:rPr>
              <a:t>New Market 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338328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First IESVE tool purpose-built for Swiss SIA energy compliance. Opens the door to a regulated market where compliance software is mandatory for building permits.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79" y="1325880"/>
            <a:ext cx="3840480" cy="1463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83479" y="1581912"/>
            <a:ext cx="164592" cy="164592"/>
          </a:xfrm>
          <a:prstGeom prst="ellipse">
            <a:avLst/>
          </a:prstGeom>
          <a:solidFill>
            <a:srgbClr val="237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799" y="1508760"/>
            <a:ext cx="31089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>
                <a:solidFill>
                  <a:srgbClr val="041B4A"/>
                </a:solidFill>
                <a:latin typeface="Calibri"/>
              </a:rPr>
              <a:t>Competitive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79" y="1874519"/>
            <a:ext cx="338328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No competitor offers fail-closed, evidence-based SIA compliance directly inside a BPS tool. Architects and engineers get compliance from the same model they design with.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3840480" cy="1463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273552"/>
            <a:ext cx="164592" cy="164592"/>
          </a:xfrm>
          <a:prstGeom prst="ellipse">
            <a:avLst/>
          </a:prstGeom>
          <a:solidFill>
            <a:srgbClr val="0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200400"/>
            <a:ext cx="31089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>
                <a:solidFill>
                  <a:srgbClr val="041B4A"/>
                </a:solidFill>
                <a:latin typeface="Calibri"/>
              </a:rPr>
              <a:t>Revenue Potential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338328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Swiss construction market: CHF 60B+ annually. Every new building and major renovation requires SIA 380/2 proof. Tool can be offered as a consulting service or licensed module.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79" y="3017520"/>
            <a:ext cx="3840480" cy="1463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83479" y="3273552"/>
            <a:ext cx="164592" cy="164592"/>
          </a:xfrm>
          <a:prstGeom prst="ellipse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799" y="3200400"/>
            <a:ext cx="31089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>
                <a:solidFill>
                  <a:srgbClr val="041B4A"/>
                </a:solidFill>
                <a:latin typeface="Calibri"/>
              </a:rPr>
              <a:t>Platform Differentiation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79" y="3566160"/>
            <a:ext cx="338328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0">
                <a:solidFill>
                  <a:srgbClr val="444444"/>
                </a:solidFill>
                <a:latin typeface="Calibri"/>
              </a:rPr>
              <a:t>Positions IESVE as the only simulation platform with integrated Swiss compliance — reinforcing the 'analyse once, report everywhere' value proposition.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00600"/>
            <a:ext cx="27432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>
                <a:solidFill>
                  <a:srgbClr val="87979E"/>
                </a:solidFill>
                <a:latin typeface="Calibri"/>
              </a:rPr>
              <a:t>www.iesve.com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041B4A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64008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87979E"/>
                </a:solidFill>
                <a:latin typeface="Calibri"/>
              </a:rPr>
              <a:t>Roadmap to market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74519"/>
            <a:ext cx="7315200" cy="0"/>
          </a:xfrm>
          <a:prstGeom prst="line">
            <a:avLst/>
          </a:prstGeom>
          <a:ln w="19050">
            <a:solidFill>
              <a:srgbClr val="87979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05840" y="1645920"/>
            <a:ext cx="457200" cy="457200"/>
          </a:xfrm>
          <a:prstGeom prst="ellipse">
            <a:avLst/>
          </a:prstGeom>
          <a:solidFill>
            <a:srgbClr val="75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331720"/>
            <a:ext cx="1965960" cy="233172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69164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1">
                <a:solidFill>
                  <a:srgbClr val="041B4A"/>
                </a:solidFill>
                <a:latin typeface="Calibri"/>
              </a:rPr>
              <a:t>Client Demo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169164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Video demo recorded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PDF + Excel reports functional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Fail-closed engine validated</a:t>
            </a:r>
          </a:p>
        </p:txBody>
      </p:sp>
      <p:sp>
        <p:nvSpPr>
          <p:cNvPr id="11" name="Oval 10"/>
          <p:cNvSpPr/>
          <p:nvPr/>
        </p:nvSpPr>
        <p:spPr>
          <a:xfrm>
            <a:off x="3154680" y="1645920"/>
            <a:ext cx="457200" cy="457200"/>
          </a:xfrm>
          <a:prstGeom prst="ellipse">
            <a:avLst/>
          </a:prstGeom>
          <a:solidFill>
            <a:srgbClr val="3D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645920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331720"/>
            <a:ext cx="1965960" cy="233172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2468880"/>
            <a:ext cx="169164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1">
                <a:solidFill>
                  <a:srgbClr val="041B4A"/>
                </a:solidFill>
                <a:latin typeface="Calibri"/>
              </a:rPr>
              <a:t>SIA 4010 Completion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926080"/>
            <a:ext cx="169164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Complete remaining test engines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Run full VE model validation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Prepare formal test package</a:t>
            </a:r>
          </a:p>
        </p:txBody>
      </p:sp>
      <p:sp>
        <p:nvSpPr>
          <p:cNvPr id="16" name="Oval 15"/>
          <p:cNvSpPr/>
          <p:nvPr/>
        </p:nvSpPr>
        <p:spPr>
          <a:xfrm>
            <a:off x="5303520" y="1645920"/>
            <a:ext cx="457200" cy="457200"/>
          </a:xfrm>
          <a:prstGeom prst="ellipse">
            <a:avLst/>
          </a:prstGeom>
          <a:solidFill>
            <a:srgbClr val="0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645920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Then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2331720"/>
            <a:ext cx="1965960" cy="233172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468880"/>
            <a:ext cx="169164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1">
                <a:solidFill>
                  <a:srgbClr val="041B4A"/>
                </a:solidFill>
                <a:latin typeface="Calibri"/>
              </a:rPr>
              <a:t>Pilot Projects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926080"/>
            <a:ext cx="169164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Deploy with selected Swiss clients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Collect real-project feedback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Refine reviewer workflow</a:t>
            </a:r>
          </a:p>
        </p:txBody>
      </p:sp>
      <p:sp>
        <p:nvSpPr>
          <p:cNvPr id="21" name="Oval 20"/>
          <p:cNvSpPr/>
          <p:nvPr/>
        </p:nvSpPr>
        <p:spPr>
          <a:xfrm>
            <a:off x="7452360" y="1645920"/>
            <a:ext cx="457200" cy="457200"/>
          </a:xfrm>
          <a:prstGeom prst="ellipse">
            <a:avLst/>
          </a:prstGeom>
          <a:solidFill>
            <a:srgbClr val="0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1645920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2331720"/>
            <a:ext cx="1965960" cy="233172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2468880"/>
            <a:ext cx="169164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1">
                <a:solidFill>
                  <a:srgbClr val="041B4A"/>
                </a:solidFill>
                <a:latin typeface="Calibri"/>
              </a:rPr>
              <a:t>Market 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926080"/>
            <a:ext cx="169164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SIA 4010 certification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Integrate into IES service offering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555555"/>
                </a:solidFill>
                <a:latin typeface="Calibri"/>
              </a:rPr>
              <a:t>Scale across Swiss market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00600"/>
            <a:ext cx="27432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>
                <a:solidFill>
                  <a:srgbClr val="87979E"/>
                </a:solidFill>
                <a:latin typeface="Calibri"/>
              </a:rPr>
              <a:t>www.iesve.com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B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es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48640"/>
            <a:ext cx="3657600" cy="11704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2200" b="0">
                <a:solidFill>
                  <a:srgbClr val="3DAEDC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114800"/>
            <a:ext cx="2743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87979E"/>
                </a:solidFill>
                <a:latin typeface="Calibri"/>
              </a:rPr>
              <a:t>www.iesve.com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