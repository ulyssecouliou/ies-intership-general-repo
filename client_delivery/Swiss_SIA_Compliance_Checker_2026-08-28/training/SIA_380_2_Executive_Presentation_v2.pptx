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SIA 380/2</a:t>
            </a:r>
          </a:p>
          <a:p>
            <a:pPr algn="l">
              <a:lnSpc>
                <a:spcPts val="48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Compliance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3DAEDC"/>
                </a:solidFill>
                <a:latin typeface="Calibri"/>
              </a:rPr>
              <a:t>Automated Energy Compliance Check</a:t>
            </a:r>
          </a:p>
          <a:p>
            <a:pPr algn="l">
              <a:lnSpc>
                <a:spcPts val="2800"/>
              </a:lnSpc>
            </a:pPr>
            <a:r>
              <a:rPr sz="2000" b="0">
                <a:solidFill>
                  <a:srgbClr val="3DAEDC"/>
                </a:solidFill>
                <a:latin typeface="Calibri"/>
              </a:rPr>
              <a:t>for Client 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7979E"/>
                </a:solidFill>
                <a:latin typeface="Calibri"/>
              </a:rPr>
              <a:t>27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6D7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263640" y="457200"/>
            <a:ext cx="0" cy="4206240"/>
          </a:xfrm>
          <a:prstGeom prst="line">
            <a:avLst/>
          </a:prstGeom>
          <a:ln w="19050">
            <a:solidFill>
              <a:srgbClr val="3DA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0" y="10058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SIA 380/2:2022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Full Standard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One-Click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Model to Report in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PDF +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86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Auditable Deliverables</a:t>
            </a:r>
          </a:p>
        </p:txBody>
      </p:sp>
      <p:pic>
        <p:nvPicPr>
          <p:cNvPr id="15" name="Picture 14" descr="Je découvre les conférences du BIM DAY GVA - BIM DAY GVA">
            <a:extLst>
              <a:ext uri="{FF2B5EF4-FFF2-40B4-BE49-F238E27FC236}">
                <a16:creationId xmlns:a16="http://schemas.microsoft.com/office/drawing/2014/main" id="{CB02B383-6843-8652-A4DB-EFB6AFCF3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266"/>
            <a:ext cx="1514074" cy="1514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Swiss energy compliance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83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Manual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Engineers manually check 50+ parameters across heating, cooling, ventilation, lighting, and solar protection. Each references a different SIA article.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0" y="1737360"/>
            <a:ext cx="457200" cy="457200"/>
          </a:xfrm>
          <a:prstGeom prst="ellipse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Error-Prone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Spreadsheet-based workflows mean transcription errors, version mismatches, and inconsistent evidence. Missed checks can delay building permits.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83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No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Current methods lack an auditable trail. When a reviewer asks ‘where does this value come from?’, the answer is often buried in emails.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041B4A"/>
                </a:solidFill>
                <a:latin typeface="Calibri"/>
              </a:rPr>
              <a:t>What </a:t>
            </a:r>
            <a:r>
              <a:rPr lang="fr-FR" sz="3200" b="1" dirty="0">
                <a:solidFill>
                  <a:srgbClr val="041B4A"/>
                </a:solidFill>
                <a:latin typeface="Calibri"/>
              </a:rPr>
              <a:t>I</a:t>
            </a:r>
            <a:r>
              <a:rPr sz="3200" b="1" dirty="0">
                <a:solidFill>
                  <a:srgbClr val="041B4A"/>
                </a:solidFill>
                <a:latin typeface="Calibri"/>
              </a:rPr>
              <a:t>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An automated SIA 380/2 compliance check running inside IESVE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90472"/>
            <a:ext cx="146304" cy="146304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One-Click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From an open VE model to an auditable compliance report in minutes, not days.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Evidence-Based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Every check cites its SIA article. Missing evidence = NOT_CHECKABLE, never a false PASS.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27832"/>
            <a:ext cx="146304" cy="146304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Full SIA 380/2:2022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Heating, cooling, ventilation, lighting, solar protection, thermal bridges — all automated.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96511"/>
            <a:ext cx="146304" cy="146304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3474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600" b="1" dirty="0" err="1">
                <a:solidFill>
                  <a:srgbClr val="041B4A"/>
                </a:solidFill>
              </a:rPr>
              <a:t>Quadrilingual</a:t>
            </a:r>
            <a:r>
              <a:rPr sz="1600" b="1" dirty="0">
                <a:solidFill>
                  <a:srgbClr val="041B4A"/>
                </a:solidFill>
                <a:latin typeface="Calibri"/>
              </a:rPr>
              <a:t>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39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French and German output, matching the SIA workbook format Swiss reviewers expect.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417320"/>
            <a:ext cx="3383280" cy="96012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149047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Compliance checks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560320"/>
            <a:ext cx="3383280" cy="960120"/>
          </a:xfrm>
          <a:prstGeom prst="roundRect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0" y="263347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97479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SIA article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3703320"/>
            <a:ext cx="3383280" cy="960120"/>
          </a:xfrm>
          <a:prstGeom prst="roundRect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377647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4048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Report formats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PDF +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DAEDC"/>
                </a:solidFill>
                <a:latin typeface="Calibri"/>
              </a:rPr>
              <a:t>From a client’s VE model to compliance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Open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Load the client’s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IESVE project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(simulation done)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6032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08960" y="1828800"/>
            <a:ext cx="822960" cy="82296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828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8346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Extract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24612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API reads geometry,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constructions, HVAC,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weather, APS results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26279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5488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03520" y="1828800"/>
            <a:ext cx="822960" cy="82296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1828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8346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4612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Engine checks each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SIA 380/2 criterion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against thresholds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20840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944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79" y="1828800"/>
            <a:ext cx="822960" cy="82296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79" y="1828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8346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4612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Generate branded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PDF + Excel with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full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Fail-Closed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Safety by design: missing evidence never becomes a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463040" cy="731520"/>
          </a:xfrm>
          <a:prstGeom prst="roundRect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All required evidence present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and within SIA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14173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37759" y="1737360"/>
            <a:ext cx="1463040" cy="731520"/>
          </a:xfrm>
          <a:prstGeom prst="round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59" y="1737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16916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Values close to the limit;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review recommended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463040" cy="731520"/>
          </a:xfrm>
          <a:prstGeom prst="roundRect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91839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Evidence present but exceeds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SIA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0175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3337560"/>
            <a:ext cx="1463040" cy="731520"/>
          </a:xfrm>
          <a:prstGeom prst="roundRect">
            <a:avLst/>
          </a:prstGeom>
          <a:solidFill>
            <a:srgbClr val="8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33375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 CHECKABLE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291839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Missing evidence or data —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never defaults to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8046720" cy="45720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Core principle:  unknown ≠ compliant.  Every check traces to a specific SIA article.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the Tool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DAEDC"/>
                </a:solidFill>
                <a:latin typeface="Calibri"/>
              </a:rPr>
              <a:t>Every domain of SIA 380/2:2022, extracted directly from the VE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727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Heating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Energy demand · System efficiency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Heat generation · Distribution losses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727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Cooling demand · EER / SEER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Free cooling · Refrigerant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5727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Ventilation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Air exchange rates · Heat recovery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Electric power · Control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3101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Installed power density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Control systems · Daylight factor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3101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Solar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86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Shading devices · g-value reduction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Automation class · Orientation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00800" y="3291840"/>
            <a:ext cx="457200" cy="45720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3101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Thermal Bridges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86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Psi values · Linear coefficients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Read directly from VE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Client-ready, auditable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840480" cy="329184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3DAEDC"/>
                </a:solidFill>
                <a:latin typeface="Calibri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2763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Compliance Report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40864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IES-branded cover page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88336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58775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Executive summary with overall verdict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35808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935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Detailed check-by-check results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83280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28269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SIA article citations for each criterion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730751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6301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Evidence source traceability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78224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977640"/>
            <a:ext cx="3017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200" dirty="0" err="1">
                <a:solidFill>
                  <a:srgbClr val="FFFFFF"/>
                </a:solidFill>
              </a:rPr>
              <a:t>Quadrilingual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output (FR / 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417320"/>
            <a:ext cx="3840480" cy="3291840"/>
          </a:xfrm>
          <a:prstGeom prst="roundRect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600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CFAD"/>
                </a:solidFill>
                <a:latin typeface="Calibri"/>
              </a:rPr>
              <a:t>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62763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Detail Workbook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0" y="2340864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49240" y="22402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SIA official workbook format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88336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258775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All input parameters with sources</a:t>
            </a:r>
          </a:p>
        </p:txBody>
      </p:sp>
      <p:sp>
        <p:nvSpPr>
          <p:cNvPr id="27" name="Oval 26"/>
          <p:cNvSpPr/>
          <p:nvPr/>
        </p:nvSpPr>
        <p:spPr>
          <a:xfrm>
            <a:off x="5120640" y="3035808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9240" y="2935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Comparison tables (project vs reference)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383280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328269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Evidence worksheets per domain</a:t>
            </a:r>
          </a:p>
        </p:txBody>
      </p:sp>
      <p:sp>
        <p:nvSpPr>
          <p:cNvPr id="31" name="Oval 30"/>
          <p:cNvSpPr/>
          <p:nvPr/>
        </p:nvSpPr>
        <p:spPr>
          <a:xfrm>
            <a:off x="5120640" y="3730751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9240" y="36301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Reviewer signature fields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078224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9240" y="3977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Machine-readable for audits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Client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What the engineer sees from start to finish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Open client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The engineer opens a real VE project with a completed simulation. No special preparation — the tool reads the model as-is.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" y="1828800"/>
            <a:ext cx="0" cy="256032"/>
          </a:xfrm>
          <a:prstGeom prst="line">
            <a:avLst/>
          </a:prstGeom>
          <a:ln w="12700">
            <a:solidFill>
              <a:srgbClr val="879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2130552"/>
            <a:ext cx="384048" cy="384048"/>
          </a:xfrm>
          <a:prstGeom prst="ellipse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848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Launch compliance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5915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One VEScript call opens the SIA 380/2 navigator. The engineer fills in context (client, project, language) and selects the analysis.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" y="2542032"/>
            <a:ext cx="0" cy="256032"/>
          </a:xfrm>
          <a:prstGeom prst="line">
            <a:avLst/>
          </a:prstGeom>
          <a:ln w="12700">
            <a:solidFill>
              <a:srgbClr val="879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980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Add reviewer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7238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For checks the API cannot read (e.g. cooling EER, AHU spec), the engineer provides documented evidence through the interface.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" y="3255264"/>
            <a:ext cx="0" cy="256032"/>
          </a:xfrm>
          <a:prstGeom prst="line">
            <a:avLst/>
          </a:prstGeom>
          <a:ln w="12700">
            <a:solidFill>
              <a:srgbClr val="879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3557015"/>
            <a:ext cx="384048" cy="384048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5570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511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Review verdicts and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85615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The tool shows pass/fail/not-checkable for every criterion. The engineer corrects the model or adds missing evidence, then re-runs.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" y="3968496"/>
            <a:ext cx="0" cy="256032"/>
          </a:xfrm>
          <a:prstGeom prst="line">
            <a:avLst/>
          </a:prstGeom>
          <a:ln w="12700">
            <a:solidFill>
              <a:srgbClr val="879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8640" y="4270248"/>
            <a:ext cx="384048" cy="384048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2702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24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Generate auditable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988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Once satisfied, the engineer exports the branded PDF and the SIA Excel workbook — both ready for the cantonal reviewer.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Software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DAEDC"/>
                </a:solidFill>
                <a:latin typeface="Calibri"/>
              </a:rPr>
              <a:t>SIA 4010:2023 — validation tests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SIA 4010:2023 defines 7 validation tests that a software tool must pass to be officially recognised for SIA 380/2 compliance. We are building the test engines alongside the client analysis tool. This is a medium-term objective — the client tool is usable today; formal certification will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651760" cy="24231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651760"/>
            <a:ext cx="2377440" cy="320040"/>
          </a:xfrm>
          <a:prstGeom prst="roundRect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Nearly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Test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3DAEDC"/>
                </a:solidFill>
                <a:latin typeface="Calibri"/>
              </a:rPr>
              <a:t>Monthly Energy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Most advanced. Engine built, reference data frozen, scatter-band comparisons operational. VE-model validation runs remain to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468880"/>
            <a:ext cx="2651760" cy="24231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2651760"/>
            <a:ext cx="2377440" cy="320040"/>
          </a:xfrm>
          <a:prstGeom prst="roundRect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08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Tests 2–3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29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3DAEDC"/>
                </a:solidFill>
                <a:latin typeface="Calibri"/>
              </a:rPr>
              <a:t>Setter Qualification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3DAEDC"/>
                </a:solidFill>
                <a:latin typeface="Calibri"/>
              </a:rPr>
              <a:t>&amp; Coefficients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8862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Engines exist for optical and shading setters and scatter-band coefficients. Reference data partially frozen.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68880"/>
            <a:ext cx="2651760" cy="24231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2651760"/>
            <a:ext cx="2377440" cy="320040"/>
          </a:xfrm>
          <a:prstGeom prst="roundRect">
            <a:avLst/>
          </a:prstGeom>
          <a:solidFill>
            <a:srgbClr val="8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Early / 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Tests 4–7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3DAEDC"/>
                </a:solidFill>
                <a:latin typeface="Calibri"/>
              </a:rPr>
              <a:t>Comfort, Distribution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3DAEDC"/>
                </a:solidFill>
                <a:latin typeface="Calibri"/>
              </a:rPr>
              <a:t>&amp; Annual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Test 7 engine built. Tests 4–6 need further engine development and reference data. Test 5 (class 5) is the simplest entry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74519"/>
            <a:ext cx="7315200" cy="0"/>
          </a:xfrm>
          <a:prstGeom prst="line">
            <a:avLst/>
          </a:prstGeom>
          <a:ln w="19050">
            <a:solidFill>
              <a:srgbClr val="8797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Client Demo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691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Video demo recorded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PDF + Excel reports functional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Fail-closed engine validated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1645920"/>
            <a:ext cx="457200" cy="45720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Finalise Test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926080"/>
            <a:ext cx="1691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Complete VE-model validation runs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Freeze remaining reference data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Sign traceability matrix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164592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Pilot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1691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Deploy with selected Swiss clients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Collect real-project feedback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Refine reviewer workflow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1645920"/>
            <a:ext cx="457200" cy="457200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Market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926080"/>
            <a:ext cx="1691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Continue SIA 4010 test suite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Integrate into IES service offering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Scale across Swiss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3DAED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  <p:pic>
        <p:nvPicPr>
          <p:cNvPr id="6" name="Picture 5" descr="Je découvre les conférences du BIM DAY GVA - BIM DAY GVA">
            <a:extLst>
              <a:ext uri="{FF2B5EF4-FFF2-40B4-BE49-F238E27FC236}">
                <a16:creationId xmlns:a16="http://schemas.microsoft.com/office/drawing/2014/main" id="{D9A5A1BA-C2E4-5DC1-448A-452C2B9C2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97" y="0"/>
            <a:ext cx="2058206" cy="2058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897</Words>
  <Application>Microsoft Office PowerPoint</Application>
  <PresentationFormat>On-screen Show (16:9)</PresentationFormat>
  <Paragraphs>186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Ulysse Couliou</cp:lastModifiedBy>
  <cp:revision>4</cp:revision>
  <dcterms:created xsi:type="dcterms:W3CDTF">2013-01-27T09:14:16Z</dcterms:created>
  <dcterms:modified xsi:type="dcterms:W3CDTF">2026-08-27T12:07:17Z</dcterms:modified>
  <cp:category/>
</cp:coreProperties>
</file>