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09836ed904896" /><Relationship Type="http://schemas.openxmlformats.org/officeDocument/2006/relationships/extended-properties" Target="/docProps/app.xml" Id="R31d73b45daf742cb" /><Relationship Type="http://schemas.openxmlformats.org/officeDocument/2006/relationships/officeDocument" Target="/ppt/presentation.xml" Id="R84b7c4fbc59d4d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f17d7fab349f9"/>
  </p:sldMasterIdLst>
  <p:notesMasterIdLst>
    <p:notesMasterId xmlns:r="http://schemas.openxmlformats.org/officeDocument/2006/relationships" r:id="R9cbe74d8fd574095"/>
  </p:notesMasterIdLst>
  <p:sldIdLst>
    <p:sldId xmlns:r="http://schemas.openxmlformats.org/officeDocument/2006/relationships" id="256" r:id="R3edf8f5a25fc463f"/>
    <p:sldId xmlns:r="http://schemas.openxmlformats.org/officeDocument/2006/relationships" id="257" r:id="R7a8034c8c15b4713"/>
    <p:sldId xmlns:r="http://schemas.openxmlformats.org/officeDocument/2006/relationships" id="258" r:id="Rdfed37996ca24441"/>
    <p:sldId xmlns:r="http://schemas.openxmlformats.org/officeDocument/2006/relationships" id="259" r:id="R53c35862b34c4490"/>
    <p:sldId xmlns:r="http://schemas.openxmlformats.org/officeDocument/2006/relationships" id="260" r:id="R171b4ba2a28e4216"/>
    <p:sldId xmlns:r="http://schemas.openxmlformats.org/officeDocument/2006/relationships" id="261" r:id="R7627a91264b045fc"/>
    <p:sldId xmlns:r="http://schemas.openxmlformats.org/officeDocument/2006/relationships" id="262" r:id="R262c2e8aebe54500"/>
    <p:sldId xmlns:r="http://schemas.openxmlformats.org/officeDocument/2006/relationships" id="263" r:id="R87167b351ed644a3"/>
    <p:sldId xmlns:r="http://schemas.openxmlformats.org/officeDocument/2006/relationships" id="264" r:id="Rc25d208e4fe2443d"/>
    <p:sldId xmlns:r="http://schemas.openxmlformats.org/officeDocument/2006/relationships" id="265" r:id="R3ce0acae7da34b56"/>
    <p:sldId xmlns:r="http://schemas.openxmlformats.org/officeDocument/2006/relationships" id="266" r:id="R642f7f9fb28c42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58021ed1c4102" /><Relationship Type="http://schemas.openxmlformats.org/officeDocument/2006/relationships/slideMaster" Target="/ppt/slideMasters/slideMaster1.xml" Id="R28df17d7fab349f9" /><Relationship Type="http://schemas.openxmlformats.org/officeDocument/2006/relationships/notesMaster" Target="/ppt/notesMasters/notesMaster1.xml" Id="R9cbe74d8fd574095" /><Relationship Type="http://schemas.openxmlformats.org/officeDocument/2006/relationships/presProps" Target="/ppt/presProps.xml" Id="R75ea059b7ead4f22" /><Relationship Type="http://schemas.openxmlformats.org/officeDocument/2006/relationships/tableStyles" Target="/ppt/tableStyles.xml" Id="R66b0d6eb5f9f4fdb" /><Relationship Type="http://schemas.openxmlformats.org/officeDocument/2006/relationships/slide" Target="/ppt/slides/slide1.xml" Id="R3edf8f5a25fc463f" /><Relationship Type="http://schemas.openxmlformats.org/officeDocument/2006/relationships/slide" Target="/ppt/slides/slide2.xml" Id="R7a8034c8c15b4713" /><Relationship Type="http://schemas.openxmlformats.org/officeDocument/2006/relationships/slide" Target="/ppt/slides/slide3.xml" Id="Rdfed37996ca24441" /><Relationship Type="http://schemas.openxmlformats.org/officeDocument/2006/relationships/slide" Target="/ppt/slides/slide4.xml" Id="R53c35862b34c4490" /><Relationship Type="http://schemas.openxmlformats.org/officeDocument/2006/relationships/slide" Target="/ppt/slides/slide5.xml" Id="R171b4ba2a28e4216" /><Relationship Type="http://schemas.openxmlformats.org/officeDocument/2006/relationships/slide" Target="/ppt/slides/slide6.xml" Id="R7627a91264b045fc" /><Relationship Type="http://schemas.openxmlformats.org/officeDocument/2006/relationships/slide" Target="/ppt/slides/slide7.xml" Id="R262c2e8aebe54500" /><Relationship Type="http://schemas.openxmlformats.org/officeDocument/2006/relationships/slide" Target="/ppt/slides/slide8.xml" Id="R87167b351ed644a3" /><Relationship Type="http://schemas.openxmlformats.org/officeDocument/2006/relationships/slide" Target="/ppt/slides/slide9.xml" Id="Rc25d208e4fe2443d" /><Relationship Type="http://schemas.openxmlformats.org/officeDocument/2006/relationships/slide" Target="/ppt/slides/slide10.xml" Id="R3ce0acae7da34b56" /><Relationship Type="http://schemas.openxmlformats.org/officeDocument/2006/relationships/slide" Target="/ppt/slides/slide11.xml" Id="R642f7f9fb28c42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dba509b89244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45d7f41b04971" /><Relationship Type="http://schemas.openxmlformats.org/officeDocument/2006/relationships/notesMaster" Target="/ppt/notesMasters/notesMaster1.xml" Id="R310b0220056949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a9661f67d4a5f" /><Relationship Type="http://schemas.openxmlformats.org/officeDocument/2006/relationships/notesMaster" Target="/ppt/notesMasters/notesMaster1.xml" Id="Rd3be394885e44b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7ce923107940da" /><Relationship Type="http://schemas.openxmlformats.org/officeDocument/2006/relationships/notesMaster" Target="/ppt/notesMasters/notesMaster1.xml" Id="Rda14acf7b4eb49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bc33f5023b4146" /><Relationship Type="http://schemas.openxmlformats.org/officeDocument/2006/relationships/notesMaster" Target="/ppt/notesMasters/notesMaster1.xml" Id="R91e68cbb13d449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6a609ad50f483f" /><Relationship Type="http://schemas.openxmlformats.org/officeDocument/2006/relationships/notesMaster" Target="/ppt/notesMasters/notesMaster1.xml" Id="Rdff7c816416e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b0b33713884743" /><Relationship Type="http://schemas.openxmlformats.org/officeDocument/2006/relationships/notesMaster" Target="/ppt/notesMasters/notesMaster1.xml" Id="R2e3d5f236b7b48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3dda0c5f8d447c" /><Relationship Type="http://schemas.openxmlformats.org/officeDocument/2006/relationships/notesMaster" Target="/ppt/notesMasters/notesMaster1.xml" Id="Rd1d47f5b45474a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1751fcd86941b2" /><Relationship Type="http://schemas.openxmlformats.org/officeDocument/2006/relationships/notesMaster" Target="/ppt/notesMasters/notesMaster1.xml" Id="R34349d3d64ad45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b1990391de4453" /><Relationship Type="http://schemas.openxmlformats.org/officeDocument/2006/relationships/notesMaster" Target="/ppt/notesMasters/notesMaster1.xml" Id="R8a089a367c4849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daa9604d7457e" /><Relationship Type="http://schemas.openxmlformats.org/officeDocument/2006/relationships/notesMaster" Target="/ppt/notesMasters/notesMaster1.xml" Id="Rb220915060f847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ed54b8134d43d6" /><Relationship Type="http://schemas.openxmlformats.org/officeDocument/2006/relationships/notesMaster" Target="/ppt/notesMasters/notesMaster1.xml" Id="R26a079f3210340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project as an evidence workflow, not just a Python script.</a:t>
            </a:r>
          </a:p>
          <a:p xmlns:a="http://schemas.openxmlformats.org/drawingml/2006/main">
            <a:r>
              <a:t>Mention that the deck is in English and intended for manager-level progress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executive message.</a:t>
            </a:r>
          </a:p>
          <a:p xmlns:a="http://schemas.openxmlformats.org/drawingml/2006/main">
            <a:r>
              <a:t>The workflow is useful now because it is conservative and auditable.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this is difficult and why a professional report needs evidence boundaries.</a:t>
            </a:r>
          </a:p>
          <a:p xmlns:a="http://schemas.openxmlformats.org/drawingml/2006/main">
            <a:r>
              <a:t>Avoid claiming certification. The tool creates readiness and audit support.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</a:t>
            </a:r>
          </a:p>
          <a:p xmlns:a="http://schemas.openxmlformats.org/drawingml/2006/main">
            <a:r>
              <a:t>Stress that the tool is run-button compatible and uses IESVE-specific APIs.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shows what has been built in concrete terms.</a:t>
            </a:r>
          </a:p>
          <a:p xmlns:a="http://schemas.openxmlformats.org/drawingml/2006/main">
            <a:r>
              <a:t>Mention that the report is built for managers, model reviewers and compliance reviewers at the same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be transparent. The report is valuable because it shows exactly what is not ready.</a:t>
            </a:r>
          </a:p>
          <a:p xmlns:a="http://schemas.openxmlformats.org/drawingml/2006/main">
            <a:r>
              <a:t>Avoid over-selling the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strong technical success.</a:t>
            </a:r>
          </a:p>
          <a:p xmlns:a="http://schemas.openxmlformats.org/drawingml/2006/main">
            <a:r>
              <a:t>Mention VECdbConstruction.get_g_values().bs_en_410 as the IESVE API evidence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point is that the remaining blockers are manageable.</a:t>
            </a:r>
          </a:p>
          <a:p xmlns:a="http://schemas.openxmlformats.org/drawingml/2006/main">
            <a:r>
              <a:t>They need VE/CDB correction or auditable justification, not script guessing.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safeguard slide.</a:t>
            </a:r>
          </a:p>
          <a:p xmlns:a="http://schemas.openxmlformats.org/drawingml/2006/main">
            <a:r>
              <a:t>Explain that SIA 4010 needs official evidence and target class confirmation.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path forward.</a:t>
            </a:r>
          </a:p>
          <a:p xmlns:a="http://schemas.openxmlformats.org/drawingml/2006/main">
            <a:r>
              <a:t>MVP works. MSP means commercial-quality evidence and reviewer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specific asks, not a generic thank-you.</a:t>
            </a:r>
          </a:p>
          <a:p xmlns:a="http://schemas.openxmlformats.org/drawingml/2006/main">
            <a:r>
              <a:t>If time allows, invite questions on remediation priority or SIA 4010 evidence ownership.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55f86a1c744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c7fd9dd8c2450a" /><Relationship Type="http://schemas.openxmlformats.org/officeDocument/2006/relationships/slideLayout" Target="/ppt/slideLayouts/slideLayout1.xml" Id="R5db0259d7e5243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b0259d7e5243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ec861e99f4f7b" /><Relationship Type="http://schemas.openxmlformats.org/officeDocument/2006/relationships/notesSlide" Target="/ppt/notesSlides/notesSlide1.xml" Id="Rb896c3617b2644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40b958f804261" /><Relationship Type="http://schemas.openxmlformats.org/officeDocument/2006/relationships/notesSlide" Target="/ppt/notesSlides/notesSlide2.xml" Id="Rbe6fca74204546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297cd49554b55" /><Relationship Type="http://schemas.openxmlformats.org/officeDocument/2006/relationships/notesSlide" Target="/ppt/notesSlides/notesSlide3.xml" Id="R6241d7d00f15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1f13896c2416e" /><Relationship Type="http://schemas.openxmlformats.org/officeDocument/2006/relationships/notesSlide" Target="/ppt/notesSlides/notesSlide4.xml" Id="Rd0445be8a6fa47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a0bf17fe645ba" /><Relationship Type="http://schemas.openxmlformats.org/officeDocument/2006/relationships/notesSlide" Target="/ppt/notesSlides/notesSlide5.xml" Id="Rdbb5b60d21be49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456f2ccbd415b" /><Relationship Type="http://schemas.openxmlformats.org/officeDocument/2006/relationships/notesSlide" Target="/ppt/notesSlides/notesSlide6.xml" Id="R4da0b69b7c4244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86d5e568c4648" /><Relationship Type="http://schemas.openxmlformats.org/officeDocument/2006/relationships/notesSlide" Target="/ppt/notesSlides/notesSlide7.xml" Id="Rd78a94fa51384b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ae55077a24d33" /><Relationship Type="http://schemas.openxmlformats.org/officeDocument/2006/relationships/chart" Target="/ppt/slides/charts/chart1.xml" Id="R730ea42685a54ecc" /><Relationship Type="http://schemas.openxmlformats.org/officeDocument/2006/relationships/notesSlide" Target="/ppt/notesSlides/notesSlide8.xml" Id="R514141f152434c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566ebaf5243ce" /><Relationship Type="http://schemas.openxmlformats.org/officeDocument/2006/relationships/notesSlide" Target="/ppt/notesSlides/notesSlide9.xml" Id="R284789eb7e7542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ecc2e8ec34511" /><Relationship Type="http://schemas.openxmlformats.org/officeDocument/2006/relationships/notesSlide" Target="/ppt/notesSlides/notesSlide10.xml" Id="R08d2fc3394ca41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dc050c89af4d28" /><Relationship Type="http://schemas.openxmlformats.org/officeDocument/2006/relationships/notesSlide" Target="/ppt/notesSlides/notesSlide11.xml" Id="R94d241a86d6741c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Frame fraction</c:v>
          </c:tx>
          <c:spPr>
            <a:solidFill xmlns:a="http://schemas.openxmlformats.org/drawingml/2006/main">
              <a:srgbClr val="C85A3A"/>
            </a:solidFill>
          </c:spPr>
          <c:dLbls/>
          <c:cat>
            <c:strLit>
              <c:ptCount val="3"/>
              <c:pt idx="0">
                <c:v>STD_EXTW</c:v>
              </c:pt>
              <c:pt idx="1">
                <c:v>STD_EXT2</c:v>
              </c:pt>
              <c:pt idx="2">
                <c:v>STD_EXT1</c:v>
              </c:pt>
            </c:strLit>
          </c:cat>
          <c:val>
            <c:numLit>
              <c:formatCode>0%</c:formatCode>
              <c:ptCount val="3"/>
              <c:pt idx="0">
                <c:v>0.3</c:v>
              </c:pt>
              <c:pt idx="1">
                <c:v>0.35</c:v>
              </c:pt>
              <c:pt idx="2">
                <c:v>0.25</c:v>
              </c:pt>
            </c:numLit>
          </c:val>
        </c:ser>
        <c:ser>
          <c:idx val="1"/>
          <c:order val="1"/>
          <c:tx>
            <c:v>Limit</c:v>
          </c:tx>
          <c:spPr>
            <a:solidFill xmlns:a="http://schemas.openxmlformats.org/drawingml/2006/main">
              <a:srgbClr val="0E6F66"/>
            </a:solidFill>
          </c:spPr>
          <c:dLbls/>
          <c:cat>
            <c:strLit>
              <c:ptCount val="3"/>
              <c:pt idx="0">
                <c:v>STD_EXTW</c:v>
              </c:pt>
              <c:pt idx="1">
                <c:v>STD_EXT2</c:v>
              </c:pt>
              <c:pt idx="2">
                <c:v>STD_EXT1</c:v>
              </c:pt>
            </c:strLit>
          </c:cat>
          <c:val>
            <c:numLit>
              <c:formatCode>0%</c:formatCode>
              <c:ptCount val="3"/>
              <c:pt idx="0">
                <c:v>0.25</c:v>
              </c:pt>
              <c:pt idx="1">
                <c:v>0.25</c:v>
              </c:pt>
              <c:pt idx="2">
                <c:v>0.25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7312D"/>
                  </a:solidFill>
                </a:defRPr>
              </a:pPr>
            </a:p>
          </c:txPr>
          <c:dLblPos val="outEnd"/>
          <c:showVal val="1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312D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4C8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A756F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4EFE6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7312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4EFE6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1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4B3543-9029-4903-AB80-6421BBA7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EA82-F6A5-494A-9E76-03B2BACF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377BA-503C-49FC-BCF2-BB1D4424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E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20554-A1E2-4D1B-95BD-C97AC0A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1828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8CF0-F907-47C2-B3FD-72DBF97A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0"/>
            <a:ext cx="1257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FB9F84-0835-4E76-96DC-3ED350E2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B40CE-4962-42BB-A081-A301BBB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7AC8B8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7AC8B8"/>
                </a:solidFill>
                <a:latin typeface="Aptos"/>
                <a:ea typeface="Aptos"/>
                <a:cs typeface="Aptos"/>
              </a:rPr>
              <a:t>SWISS SIA COMPLIANCE CHECKER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113041-E490-450C-9DB4-016CD241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905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FFF9EE"/>
                </a:solidFill>
                <a:latin typeface="Aptos Display"/>
                <a:ea typeface="Aptos Display"/>
                <a:cs typeface="Aptos Display"/>
              </a:defRPr>
            </a:pPr>
            <a:r>
              <a:rPr sz="4125" b="1" i="0">
                <a:solidFill>
                  <a:srgbClr val="FFF9EE"/>
                </a:solidFill>
                <a:latin typeface="Aptos Display"/>
                <a:ea typeface="Aptos Display"/>
                <a:cs typeface="Aptos Display"/>
              </a:rPr>
              <a:t>Turning IESVE models into evidence-based SIA readiness 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44529-CE0B-44FC-8318-CE1430A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DAD0C0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DAD0C0"/>
                </a:solidFill>
                <a:latin typeface="Aptos"/>
                <a:ea typeface="Aptos"/>
                <a:cs typeface="Aptos"/>
              </a:rPr>
              <a:t>Progress review for Friday oral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B2796-C2C7-43A2-8C7B-5306B8D5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solidFill>
              <a:srgbClr val="FFF9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0AEA6-509B-4DB7-ABC3-DB04E73E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14825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SIA 380/2:2022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B4FF7-F2B6-4D79-A54A-7C8E1C6D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248150"/>
            <a:ext cx="16764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solidFill>
              <a:srgbClr val="FFF9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C71CD-0518-4E7F-BDA8-81EA8B20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31482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SIA 4010:2023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62D7B-E00D-43CC-898F-B972ACDA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48150"/>
            <a:ext cx="13906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0">
            <a:solidFill>
              <a:srgbClr val="FFF9E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4C67D-0145-45DA-9FF4-1667A989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14825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IESVE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0473C-9480-47C9-B12B-663F49AA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DAD0C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DAD0C0"/>
                </a:solidFill>
                <a:latin typeface="Aptos"/>
                <a:ea typeface="Aptos"/>
                <a:cs typeface="Aptos"/>
              </a:rPr>
              <a:t>Current project: ZOER_32_C1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314239-4759-4631-83FC-1219C4AF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DAD0C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AD0C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8821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659800-3EC2-4F58-804B-B70AA968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CD88E-4D05-4B07-AC35-D7FE7DB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9E574-528D-46F6-ABE7-FA45CEFE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049F1-77DC-43E5-8510-3009C92B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D7F75-7DF6-4E5F-89DC-020075B9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6B69-86BD-4CAE-B223-01BD504E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EXECUTIVE MESSAGE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B29D9-133E-456F-ADFD-69C18967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FB9F0-E421-4992-8803-88F12E62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We moved from ad hoc review to a repeatable readiness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74C09-2085-4F6C-B39B-55D8830F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project now extracts VE data, checks what can be checked, and blocks unsafe compliance claims where evidence is missing.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809C8-00B2-4C7F-B3F1-F6F35254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F03E3-B260-4C7F-AB7E-D8C003E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DD7BC-7F7B-4A9D-9EB4-852FEA68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381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7E8C3-4157-4882-B658-C5F5D7D2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44B5C-CA2D-4271-8902-BE4A775A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Run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4081B-4336-4E5A-BA6C-5F78BCFD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Workflow constraint solved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5EB9B9-C4E9-4E4C-B2C4-A3C244B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Designed for VE users who cannot run PowerShell.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1B34D-B3A9-49EC-B331-EE6583C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2381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C7120-649E-487B-8936-C88CA3DE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38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242DE-4C51-4538-AA0A-1A855150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099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26 sheets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2B7A21-50B2-4495-8AC6-9F97C763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Professional Excel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C31353-16EA-4D60-BE07-4CCE774B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05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Dashboard, action board, evidence tabs and raw traceability.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BFB837-1850-44B5-A2A9-9E2C2173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2381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26F908-199E-403F-B115-26AF909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384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F2776-14E2-4FA9-9BDD-CF3DA6D7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169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D4E81-5801-4549-AD5C-870AEE55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Release validation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6A48D0-2E1F-464A-BB94-008273D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PDF references, config guardrails, workbook structure and formula health.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CFF511-BBA6-4663-BF85-D383DB7C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381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556217-CAB3-4D1A-83D8-CF2A0C51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289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7AC8B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C8B8"/>
                </a:solidFill>
                <a:latin typeface="Aptos"/>
                <a:ea typeface="Aptos"/>
                <a:cs typeface="Aptos"/>
              </a:rPr>
              <a:t>Core principle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678F4D-4E21-4376-8FCB-6A2E6204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 b="1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No evidence,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2100" b="1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no claim.</a:t>
            </a:r>
          </a:p>
        </p:txBody>
      </p:sp>
    </p:spTree>
    <p:extLst>
      <p:ext uri="{BB962C8B-B14F-4D97-AF65-F5344CB8AC3E}">
        <p14:creationId xmlns:p14="http://schemas.microsoft.com/office/powerpoint/2010/main" val="18610972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3A038-1FAA-4E94-9900-A8AAD41D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552A7-440F-4015-B3C8-317B655C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9605A-D4FC-4FBA-9D8D-5DFB6C2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A08681-76A2-45B5-8FFB-661751E9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905F29-3FBC-4213-9ED6-041E07C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D3325-DDDF-484F-8BAC-7D3C22C0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07A75-A2AD-4FAA-80AE-60597F1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B97C1-D768-4856-B4E4-6E2AA0AB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Swiss compliance needs more than a pass/fail 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A45B6-318B-48BE-A570-9EFA9BEB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standards create three simultaneous challenges: technical extraction, source traceability, and official evidence boundaries.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B07BC-8880-4464-8724-DE7E2898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24E2D-3194-4998-980D-A339BD2C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647AD9-8B30-4E82-A1EA-C1582C1B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053CC-469D-4604-AE01-38480656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6229-8193-4FDE-BAED-C32355E0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SIA 380/2 mixes building data, systems, controls and dynamic results.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7CC06-11D0-4234-910B-5390DA2C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419BD-EC24-4CA5-82BD-B861785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576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SIA 4010 validates method/software evidence, not a single building value.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CB61A-F02E-463C-A73C-52D1421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E94A37-BC3C-4592-82DA-94DC8E68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100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VE exposes data through specific IESVE API objects and CDB methods.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8B81A-E370-4B44-B6EB-84A3378E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49530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CE2D6-C4FD-49C2-994E-AC8A7A60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The required shift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EE08C4-EF66-438A-9745-761947C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From checking isolated numbers to proving where each value came from, how it was interpreted, and what remains not checkable.</a:t>
            </a:r>
          </a:p>
        </p:txBody>
      </p:sp>
    </p:spTree>
    <p:extLst>
      <p:ext uri="{BB962C8B-B14F-4D97-AF65-F5344CB8AC3E}">
        <p14:creationId xmlns:p14="http://schemas.microsoft.com/office/powerpoint/2010/main" val="16157859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A492B2-BB04-473C-8B32-EF6F5963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8BD0C3-A2B4-4C95-A06E-D768B080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085AD-7431-44D6-BF63-5E8C9B05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2945-61A5-43E0-BCF4-ACA85500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BAB56-1D61-40D2-9AEF-F1241E41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7C2B0-E455-4194-BCC1-CB59D1E7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B8EAE-2A90-440E-94A6-67F53D89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C5567-C4A2-4619-90F1-86527B99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current architecture links VE extraction to manager-ready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EFB6C-99F5-426F-B469-95B0F888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Each stage is designed to be auditable and safe to run inside 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1D4D68-549C-414A-96E0-F71D8210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A551A-1021-4209-930F-BB1843CA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E0669-A877-4D89-8129-EB9EC01B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1087C5-8829-41B6-9E7A-E3B212B2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872E6-9C9B-4EF6-9432-12A755CA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05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VE Run button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563F7B-13A6-4269-9A1A-DCDE951D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10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User launches inside IESVE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9FF73-214D-440F-A64E-6C4205EC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766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B5E83-BBCD-4713-836C-6B6C960F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CD4BC7-D05C-463B-B414-EB6FD0D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33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EEBD5C-D1BA-4BA3-ADCF-5D0AEF4D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05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IESVE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BC609-243B-4693-9CC7-EC4846E1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10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Rooms, surfaces, CDB, Vista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A0175-A9D1-408C-A356-83E9DD9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AD3E6F-6676-4F5B-96C1-38138752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9D614-9A69-4F22-A913-4FBE9854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33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F05D16-0687-4AA7-A346-E013B51D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05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SIA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ED4C27-282B-421B-B425-8D6563AFF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10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380/2 values and model QA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241B3-9D11-4340-90D9-8EBF15EA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1268CC-298D-4DEF-89ED-53F32121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9525">
            <a:solidFill>
              <a:srgbClr val="17312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4C606-F5E9-41DB-9470-66252DDF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333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8DC07B-022B-46D6-9CC2-8125646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05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Evidence matrix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8A28D-966E-49A9-9D50-6A3E7A2B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4010 remains NOT_CHECKABLE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FD7018-8BCC-43F0-9776-6939F864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7662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206051-2A22-4A7F-A119-CF0768E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1104900" cy="1104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B74A78-0C05-4A02-927D-87F6EE77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33375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86C42-666C-4CF9-8CC1-04D59820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Reports/docs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D3AEB3-F328-407A-A95A-64A5EE38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10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Excel, Sphinx, playbooks</a:t>
            </a:r>
          </a:p>
        </p:txBody>
      </p:sp>
    </p:spTree>
    <p:extLst>
      <p:ext uri="{BB962C8B-B14F-4D97-AF65-F5344CB8AC3E}">
        <p14:creationId xmlns:p14="http://schemas.microsoft.com/office/powerpoint/2010/main" val="2104704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9A6746-3FD2-4CBC-A3ED-61A300C9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0773E-8573-4B7A-BFDD-050518BA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05B11-B6C8-459D-A8FB-508DE98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F197F-7C75-4003-916C-3558FE53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E933A-DEE7-427C-B752-D0C7250D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11D92-D3E1-471B-9B9D-23C293D0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WHAT IS DELIVERED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1C292-B5E2-4FB1-BBDF-66AC3AC7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96DA0-556D-46E9-9821-DDE2FD48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report has become an action system, not just a spreadsheet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52EBE-CDD9-4153-B3FE-F1180B50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workbook now separates executive decisions, technical findings, evidence needs and raw traceability.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17488D-3285-40D9-8AF4-B4407EB8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8B4AB-45FE-4F2E-90D9-581D3582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F5555-D767-4FE2-A03C-057F6EBF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2669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269C6-D40C-4AC6-9ED6-42FFB53B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2C9819-8D08-4C63-8AB5-FC8D06D9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Executive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4CCB7-719E-45AA-8DBB-1AC1E357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MANAGER DASHBOARD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CLIENT SUMMARY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PREFLIGHT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8193FC-8302-4B93-ABB5-43EC9FA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22669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9117D4-E98B-4AAC-8010-40241CFC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956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1B56DB-2CC2-4D54-8DEE-ECCFF3AB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Action 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1A0D45-1944-4D4D-88EC-81ADF7F4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766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P1 REMEDIATION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INPUT REQUEST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OPEN ITEMS 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5278D-4FC6-4443-86D2-653A0523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22669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9F34C-B5E9-4DF9-9AB7-75634F1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956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DC44C-F86C-4406-A01B-C80FBF6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Technical audits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1A065-2467-4DEA-AF04-FFF96AE7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766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FRAME FRACTION AUDIT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ENVELOPE U REVIEW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VE G-VALUES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76FD2-BED2-47F4-978E-E48C6880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2669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AB625D-A875-4DBE-B478-B29A4073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2669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CA064-2D6B-4816-8153-29EA0561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Evidence guardrails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1B3C93-662E-4F15-A496-B397C489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SIA4010 READINESS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SOFTWARE REGISTER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NAVIGATOR BACKLOG</a:t>
            </a:r>
          </a:p>
        </p:txBody>
      </p:sp>
    </p:spTree>
    <p:extLst>
      <p:ext uri="{BB962C8B-B14F-4D97-AF65-F5344CB8AC3E}">
        <p14:creationId xmlns:p14="http://schemas.microsoft.com/office/powerpoint/2010/main" val="8664881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DFB67F-50A0-45E9-83C7-11C59DA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7F12C-CBF3-49CA-8281-B48880F2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08AF7-9C1A-4067-86F5-9EF44746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D9489-6C42-4C55-9BC1-01041C9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F3132-92BB-456A-A8E2-08C7692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2464-6D2C-46BE-82D8-E63DB25B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LATEST MODEL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9FE9C-D7D8-450F-A7F0-2A7375F7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F99DC-6336-4B89-AD92-FC0F369A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ZOER_32_C1 is measurable, but not ready for a final compliance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B810E-2015-46AB-B613-4CF4ADED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current run is useful because it makes the remaining work explicit.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47B7A-EC43-4FC6-BCF1-AE700433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0CA7F-7F31-4686-B9BB-98319944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9C1A8-2B1D-4412-914D-EFFDC5BE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790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FFBD3-F952-44A8-8067-8D47547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103F84-6D23-4BF2-8C5E-6A164BEE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65.8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DDA15-93C3-4B41-9B00-9451E4AF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909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Model 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55AC9-9A05-4A84-89A4-B50CEC18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1790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6BB97-62E6-4338-8194-7761FD97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241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801C0-0024-4F08-92BC-33D99C2E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45.6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54FC80-4EC0-47E1-A522-0996F879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909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SIA 380/2 score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4659C-9011-44DF-8317-614BD570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1790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C78038-4949-4AA4-8454-D3E0747C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241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102880-0D82-4B81-946F-9FDCFCF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95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2/5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C75AC-3936-4573-947B-82227A5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909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SIA 4010 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2E4A6-958E-45CC-B92D-67C94EFD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790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C7ED59-2980-4EF6-AEED-7106A147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D2499-D167-4AB9-912F-D15E708A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95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49001-7A08-4C02-B623-171DE06F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Rooms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8B311-6846-47CC-B25A-C4426B86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7907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1DCB3-3700-4136-BD6F-E6AAFCE9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437D95-881D-4F0B-A7EF-224A84BE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956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392.5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0FD2E9-0106-433B-AA4D-72124FDB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Area m2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C43BCF-F717-4A3C-9841-18FCF4F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97536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9E1D9"/>
          </a:solidFill>
          <a:ln xmlns:a="http://schemas.openxmlformats.org/drawingml/2006/main" w="9525">
            <a:solidFill>
              <a:srgbClr val="F0B9A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63FCDF-1CBC-489E-8E01-7664AD5E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67275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7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Decision today: keep this as a professional readiness report, not a final SIA compliance certificate.</a:t>
            </a:r>
          </a:p>
        </p:txBody>
      </p:sp>
    </p:spTree>
    <p:extLst>
      <p:ext uri="{BB962C8B-B14F-4D97-AF65-F5344CB8AC3E}">
        <p14:creationId xmlns:p14="http://schemas.microsoft.com/office/powerpoint/2010/main" val="752779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8D155-E659-4257-99D5-7F5AD2C1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E1D7E-F7AE-488D-9B5D-A88C0D1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19194-C7B8-411B-BFCC-36636459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8E323-8A57-433E-9B9C-609795FA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46BB6-3828-4B8A-8683-9CA55F4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0C2E3-FE0C-454C-95A5-72289784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KEY TECHNICAL BREAKTHROUGH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182CB-A296-4EE7-9DC4-FC3745BE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AFBB1-6071-4BD5-8D9F-8284A13E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g-value issue is now evidence-backed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A4308-D35E-4E4C-B49A-A2E8BC83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script no longer treats CDB g_value = 0.75 as the SIA-comparable value when bs_en_410 proves otherwise.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F82AE-BA1D-4333-91C1-B846A33B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3384C2-70FF-46F8-9844-D28A1646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B5B3F-6A1B-4F90-9A0F-5CCDF23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19445-4B0B-4226-BFD2-4147DE20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03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Construction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369D4-EB81-408D-9C95-64E4C847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956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FD8B12-5A03-42EE-B39B-8209EF45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000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CDB 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F954F-50B6-41E2-A0CE-2B4E65B3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956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9E08A-2C69-4D42-8C9E-9AF8224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0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 410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6C24-3BDA-412E-9B81-01A603FA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956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01F41-CD91-4A42-8F02-ED2B7FB1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246A29-592C-49EA-B722-6660D26D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EC3EA-5CB4-4D2C-9642-F33BB50A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04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STD_EXTW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C0F08-1954-47D3-97B7-89A32232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956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71130-4FBD-4720-BEFA-C468B73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00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0.750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7BC1B-90EC-4C20-8366-D3C2602A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956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E37D7D-E842-44B5-897C-6656D650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400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0.251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06781-66E4-42D3-8453-C213AA39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956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7312F4-B283-4362-AE6E-9A0F447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0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B932E9-7285-45CC-ABA3-3E27D345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F975C5-67A8-4376-9E97-4CD9F82C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0047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STD_EXT1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76C6A-B253-407E-8954-3B6CCA89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95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A980B-A16A-4C45-9981-C340EAEA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0.750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A7D11-6C91-4700-8EB7-B3E1CB7B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95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02238-A811-44B0-A573-87FE1587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00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0.480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013F05-5CC6-4F36-BF78-47365C7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B18B73-7ACF-4632-8C52-084192C1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004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E0C0A0-A25D-4D1B-9CFF-1DB79B15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0D29E-60BE-4DD0-A60D-4F8AEF4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00525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STD_EXT2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3FA30B-9BAD-4957-8230-22188EEF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FD4C6C-5199-4AB5-875D-59A1EC41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005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0.750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14B701-F99D-4FD4-B7BE-2CBC6EDC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49EBA0-689B-470F-9456-1610EA7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005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0.250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0B5A8C-9E89-47AD-B3EF-CA8C774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957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E4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2D0FE7-19F4-48CA-8DC9-C4F6264A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005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3F637A-3791-4A23-B4CD-091CC520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95600"/>
            <a:ext cx="3333750" cy="22098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7312D"/>
          </a:solidFill>
          <a:ln xmlns:a="http://schemas.openxmlformats.org/drawingml/2006/main" w="0">
            <a:solidFill>
              <a:srgbClr val="17312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FA088-F164-498D-9571-F7DCE0A0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162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7AC8B8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7AC8B8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61E5CA-1BC6-4C1A-B453-BD256689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The report can now prove that raw CDB g-value and EN 410 g_perp are different values.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5D5ED7-3B00-4E62-9C35-583E3BFA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720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DAD0C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AD0C0"/>
                </a:solidFill>
                <a:latin typeface="Aptos"/>
                <a:ea typeface="Aptos"/>
                <a:cs typeface="Aptos"/>
              </a:rPr>
              <a:t>Result: no false g_total blocker when EN 410 already satisfies g &lt;= 0.50.</a:t>
            </a:r>
          </a:p>
        </p:txBody>
      </p:sp>
    </p:spTree>
    <p:extLst>
      <p:ext uri="{BB962C8B-B14F-4D97-AF65-F5344CB8AC3E}">
        <p14:creationId xmlns:p14="http://schemas.microsoft.com/office/powerpoint/2010/main" val="465149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7424A-64D4-44F6-917F-388F8259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9828C-194F-44C9-9189-2564759A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21B15-259F-408E-9435-889D38EF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4F8602-F307-4710-A7FD-F3BCD4C1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8B0158-A8F0-4C70-8907-2D5397CF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A1462-3732-45B8-B195-9820888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REMAINING SIA 380/2 BLOCKERS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62EC-3ACD-4E05-87EB-8C15A5DF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961FE-6DFC-4640-8660-21657C4F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remaining model blockers are concrete and fixable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9A6C4-F4F0-4A40-BF88-1C0E3A12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They are no longer vague compliance risks: they are specific constructions with exact values.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E9700-AF39-4B08-9C34-567A8BC5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274172-E852-4C4B-A818-8CDB791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781050" y="2914650"/>
          <a:ext xmlns:a="http://schemas.openxmlformats.org/drawingml/2006/main" cx="47625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0ea42685a54ecc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C0589-DF32-48A7-800F-38918B5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40005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2AEA8-8BE1-4E69-80AE-D7320A9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Frame fraction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19A07-9E04-4077-A3C9-500BED2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24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STD_EXTW = 0.30 and STD_EXT2 = 0.35 are above the retained 0.25 readiness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14AF3-9DBD-4FB9-BA04-1169A532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48150"/>
            <a:ext cx="400050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7D1B6-0287-4ED7-9EC4-BCA12CE5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External wall U-value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E8C61-36D2-4FA7-83BD-61A21F37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387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STD_EXT1, STD_PAR1, STD_WAL2 = 0.222 W/(m2K), above the retained 0.20 limit.</a:t>
            </a:r>
          </a:p>
        </p:txBody>
      </p:sp>
    </p:spTree>
    <p:extLst>
      <p:ext uri="{BB962C8B-B14F-4D97-AF65-F5344CB8AC3E}">
        <p14:creationId xmlns:p14="http://schemas.microsoft.com/office/powerpoint/2010/main" val="15299547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1FFD00-9ABA-4EAA-A015-A562BF07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77F4D-74F9-4DD4-BB69-F9DAF18A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055FF-60C2-4656-A3A7-5FD3C72C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E7307-0801-439A-9882-5C91DB7C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1CDB1-9271-4793-A331-0212F90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1D33-1CD7-42A0-A1F2-88529174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SIA 4010 BOUNDARY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9C48F-ED26-4BC4-B7A7-B4AAE930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C34A2-06AC-4399-B92B-79D9687B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SIA 4010 remains blocked by official evidence, by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472BD-5FCA-450E-BFB1-6FB2F5A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workflow is conservative: it tracks readiness, but it does not claim software validation without official files.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AF2F8-3E62-4DDB-A279-2E3024AD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C3CCC-D86A-4A83-88F4-952C1601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52740-76D7-4BDE-A0BC-CFEE9DF7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5D4E2-84D9-4BAF-A323-13CD449D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Evidence families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0A96A-1B8B-4D6F-BEFF-6D2A4806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 i="0">
                <a:solidFill>
                  <a:srgbClr val="C85A3A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C85A3A"/>
                </a:solidFill>
                <a:latin typeface="Aptos Display"/>
                <a:ea typeface="Aptos Display"/>
                <a:cs typeface="Aptos Display"/>
              </a:rPr>
              <a:t>2 of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6043F-89A4-41A0-8F58-D650959A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Current evidence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3C903A-CF6B-4D5C-BEE8-D1BC00D5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20002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DB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ECC33-F420-4B5F-948D-94846B2E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76750"/>
            <a:ext cx="80010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3148C-69E8-46B1-8AB8-4E22572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386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3FB901-9030-424C-A322-C4476F79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83845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12D"/>
          </a:solidFill>
          <a:ln xmlns:a="http://schemas.openxmlformats.org/drawingml/2006/main" w="0">
            <a:solidFill>
              <a:srgbClr val="1731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A1D7E-3B9A-4651-B3AD-49276817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7AC8B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7AC8B8"/>
                </a:solidFill>
                <a:latin typeface="Aptos"/>
                <a:ea typeface="Aptos"/>
                <a:cs typeface="Aptos"/>
              </a:rPr>
              <a:t>Missing before any validation wording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7A3904-9F85-4325-8D10-937A40D8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05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A42152-F253-4690-8959-09B3C418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Official SIA test specifications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5AE8A-16ED-416C-B739-FB83C0BE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71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09DBEF-E554-4920-870A-E8A8CEDE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90525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Official evaluation workbooks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A605F8-7397-4490-80C4-937BA1C2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616CB-257D-4CDF-89FB-F8B75E09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17195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Reference comparisons and class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782B4A-74D5-4C16-B0DE-0453FC0B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DAD0C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DAD0C0"/>
                </a:solidFill>
                <a:latin typeface="Aptos"/>
                <a:ea typeface="Aptos"/>
                <a:cs typeface="Aptos"/>
              </a:rPr>
              <a:t>Also: the manager-provided register does not list IESVE as software-level validated.</a:t>
            </a:r>
          </a:p>
        </p:txBody>
      </p:sp>
    </p:spTree>
    <p:extLst>
      <p:ext uri="{BB962C8B-B14F-4D97-AF65-F5344CB8AC3E}">
        <p14:creationId xmlns:p14="http://schemas.microsoft.com/office/powerpoint/2010/main" val="7481627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D94C67-897A-483A-A844-2AA741D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40D99-E8FA-47ED-8A5D-66C48AAE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6E4C5-C3C2-4ACC-B59D-22CADCB0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03D04-BF5A-407F-9C0B-49C445F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D18A7A-9FC6-40BF-A583-FC50FEFF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015F3B-AA07-409F-8B55-7205527C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82547-5890-40C5-AB79-240ECD7A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8E194-FDF7-4531-B4B5-D1638986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MVP is working; the MSP needs evidence automation and reviewer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36BCE-6596-4918-BAF4-123B6EC6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The next phase should focus on converting open items into repeatable evidence packages.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3F24B9-65B0-4A53-8BB3-1220B5B9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11C2B-B934-4CB5-A02B-7B2503E6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F9989C-1F2E-4F3A-9114-C1E3AEAB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6F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B761A5-DCF5-4164-93A3-9CE61442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D8063-A820-40D6-9A7B-B22FA7C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1DB23-282C-405F-9C61-ECBE836C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5DA7D-0753-47CC-A4F1-C2C703A0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43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Fix current VE model blockers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848F6-D18A-4FA1-8B68-78EA6AE4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05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Frame fraction, wall U-value, next report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0AABC-6A3B-409C-BEDC-CC728A6D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660AC-38E4-4934-8220-88CD00F86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05EF46-150D-458F-B315-A5A680E5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2B5E10-E6E9-4053-8C89-70020A0C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AAE66-5FFF-4DBF-8FED-68AA153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Add justified-by-evidence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2D16A1-2F22-4475-82BB-E98D9279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Keep true values visible while allowing signed exceptions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C67BEB-17ED-41CF-933C-8908B620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515E8-C57E-47B5-8668-57B9382E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435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1C42A5-25F8-4092-A863-604B6F80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5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MSP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8845E9-CCFB-45B1-88F9-F49D1519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2387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Automate broader evidence pack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E3E144-087C-4AB1-A18A-FE9F83C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6007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Schedules, ventilation, HVAC efficiency, SIA 4010 class files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36BCA-BEF6-41E8-9532-7B0F1384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190750" cy="22288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598CA8-53D5-4CB2-9401-5D4811E2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38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Definition of done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F44430-9A6D-4144-866D-93A9018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16002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150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A model can be discussed confidently when every pass, fail and exception has a visible source.</a:t>
            </a:r>
          </a:p>
        </p:txBody>
      </p:sp>
    </p:spTree>
    <p:extLst>
      <p:ext uri="{BB962C8B-B14F-4D97-AF65-F5344CB8AC3E}">
        <p14:creationId xmlns:p14="http://schemas.microsoft.com/office/powerpoint/2010/main" val="17860088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36674-292D-4BE2-99D5-B5B596E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9BF72-253E-411F-BC7F-8D9BBB18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9015A-BA91-4FB6-94A1-487FF01E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2400"/>
            <a:ext cx="24765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F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8921A-6B61-4523-9394-CE4B53EE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52400"/>
            <a:ext cx="19431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ADFEF-B84A-452A-BF91-1E2DC57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52400"/>
            <a:ext cx="123825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4D222-A359-4DF4-AB6E-A230BAA0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E6F6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E6F66"/>
                </a:solidFill>
                <a:latin typeface="Aptos"/>
                <a:ea typeface="Aptos"/>
                <a:cs typeface="Aptos"/>
              </a:rPr>
              <a:t>DECISION AND 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FD38E-61A2-4327-9156-26DF1FBD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7A8B8-9D61-47A2-A115-017A32C3A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17312D"/>
                </a:solidFill>
                <a:latin typeface="Aptos Display"/>
                <a:ea typeface="Aptos Display"/>
                <a:cs typeface="Aptos Display"/>
              </a:rPr>
              <a:t>The next milestone is a corrected model plus official evidence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C8173-9890-4862-8D2E-57A386F0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 i="0">
                <a:solidFill>
                  <a:srgbClr val="6A756F"/>
                </a:solidFill>
                <a:latin typeface="Aptos"/>
                <a:ea typeface="Aptos"/>
                <a:cs typeface="Aptos"/>
              </a:defRPr>
            </a:pPr>
            <a:r>
              <a:rPr sz="1425" b="0" i="0">
                <a:solidFill>
                  <a:srgbClr val="6A756F"/>
                </a:solidFill>
                <a:latin typeface="Aptos"/>
                <a:ea typeface="Aptos"/>
                <a:cs typeface="Aptos"/>
              </a:rPr>
              <a:t>With the current tooling in place, the work can now move from scripting to controlled compliance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BD0FF-0E42-4B97-91D4-5AC4CA2E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0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Swiss SIA Compliance Checker for IESVE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9D527-ACC0-4258-824C-CF3607C2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7C817A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7C81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EE4BF-5727-48D6-BC72-32CB951E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952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7312D"/>
          </a:solidFill>
          <a:ln xmlns:a="http://schemas.openxmlformats.org/drawingml/2006/main" w="0">
            <a:solidFill>
              <a:srgbClr val="1731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1A564-EFD5-4AB3-8154-3B318802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7AC8B8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7AC8B8"/>
                </a:solidFill>
                <a:latin typeface="Aptos"/>
                <a:ea typeface="Aptos"/>
                <a:cs typeface="Aptos"/>
              </a:rPr>
              <a:t>Ask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79498-9263-436D-9F1D-24435F05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385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FFF9EE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9EE"/>
                </a:solidFill>
                <a:latin typeface="Aptos"/>
                <a:ea typeface="Aptos"/>
                <a:cs typeface="Aptos"/>
              </a:rPr>
              <a:t>Approve model remediation on frame fraction and wall U-value.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E0461-B2C1-42C6-AF9E-D36B105C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14650"/>
            <a:ext cx="2952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A7A905-B8E6-4E33-9970-B3AEBF71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Ask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7DB95-5C17-4DE3-9AAD-512062F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3855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Confirm the target SIA 4010 validation class and required official files.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694F3D-8DF8-4508-8B0E-BFC9F4DB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2952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E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39612-933D-4565-9FC6-2501FF85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04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C85A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C85A3A"/>
                </a:solidFill>
                <a:latin typeface="Aptos"/>
                <a:ea typeface="Aptos"/>
                <a:cs typeface="Aptos"/>
              </a:rPr>
              <a:t>Ask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17B65-0664-4B49-BC4B-962B5155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38550"/>
            <a:ext cx="2209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17312D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7312D"/>
                </a:solidFill>
                <a:latin typeface="Aptos"/>
                <a:ea typeface="Aptos"/>
                <a:cs typeface="Aptos"/>
              </a:rPr>
              <a:t>Use the next VE Run as the go/no-go checkpoint for MVP handoff.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4E5D6D-C6BA-4265-A9EC-2EE14EC7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62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4433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4433E"/>
                </a:solidFill>
                <a:latin typeface="Aptos"/>
                <a:ea typeface="Aptos"/>
                <a:cs typeface="Aptos"/>
              </a:rPr>
              <a:t>Proposed close: the project is no longer exploratory. It is ready for structured remediation and evidence collection.</a:t>
            </a:r>
          </a:p>
        </p:txBody>
      </p:sp>
    </p:spTree>
    <p:extLst>
      <p:ext uri="{BB962C8B-B14F-4D97-AF65-F5344CB8AC3E}">
        <p14:creationId xmlns:p14="http://schemas.microsoft.com/office/powerpoint/2010/main" val="1780253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2026-07-01T22:31:05.0830000Z</dcterms:created>
  <dcterms:modified xsi:type="dcterms:W3CDTF">2026-07-01T22:31:05.0830000Z</dcterms:modified>
</coreProperties>
</file>